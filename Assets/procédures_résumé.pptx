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5"/>
  </p:notesMasterIdLst>
  <p:sldIdLst>
    <p:sldId id="310" r:id="rId2"/>
    <p:sldId id="314" r:id="rId3"/>
    <p:sldId id="315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04" autoAdjust="0"/>
    <p:restoredTop sz="95332" autoAdjust="0"/>
  </p:normalViewPr>
  <p:slideViewPr>
    <p:cSldViewPr>
      <p:cViewPr varScale="1">
        <p:scale>
          <a:sx n="80" d="100"/>
          <a:sy n="80" d="100"/>
        </p:scale>
        <p:origin x="1656" y="5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C03BD3-7D29-4E45-9F86-E07032B74754}" type="datetimeFigureOut">
              <a:rPr lang="fr-BE" smtClean="0"/>
              <a:t>10-09-21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E08186-547E-4D45-8ACD-DE7B5699260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563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E08186-547E-4D45-8ACD-DE7B5699260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608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E08186-547E-4D45-8ACD-DE7B5699260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97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228600"/>
            <a:ext cx="8640960" cy="990600"/>
          </a:xfrm>
        </p:spPr>
        <p:txBody>
          <a:bodyPr>
            <a:normAutofit/>
          </a:bodyPr>
          <a:lstStyle>
            <a:lvl1pPr algn="ctr">
              <a:defRPr sz="3200">
                <a:latin typeface="Arial" pitchFamily="34" charset="0"/>
                <a:cs typeface="Arial" pitchFamily="34" charset="0"/>
              </a:defRPr>
            </a:lvl1pPr>
          </a:lstStyle>
          <a:p>
            <a:r>
              <a:rPr kumimoji="0" lang="fr-FR" dirty="0" smtClean="0"/>
              <a:t>Modifiez le style du titre</a:t>
            </a:r>
            <a:endParaRPr kumimoji="0"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0" y="1312316"/>
            <a:ext cx="533400" cy="244476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2A66C84-DD1B-44C6-B4A4-7F3BC2C7F8DC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251520" y="1600200"/>
            <a:ext cx="8640960" cy="499715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 eaLnBrk="1" latinLnBrk="0" hangingPunct="1"/>
            <a:r>
              <a:rPr lang="fr-FR" dirty="0" smtClean="0"/>
              <a:t>Modifiez </a:t>
            </a:r>
            <a:r>
              <a:rPr lang="fr-FR" noProof="0" dirty="0" smtClean="0"/>
              <a:t>les</a:t>
            </a:r>
            <a:r>
              <a:rPr lang="fr-FR" dirty="0" smtClean="0"/>
              <a:t> </a:t>
            </a:r>
            <a:r>
              <a:rPr lang="fr-FR" noProof="0" dirty="0" smtClean="0"/>
              <a:t>styles</a:t>
            </a:r>
            <a:r>
              <a:rPr lang="fr-FR" dirty="0" smtClean="0"/>
              <a:t> du texte du masque</a:t>
            </a:r>
          </a:p>
          <a:p>
            <a:pPr lvl="1" eaLnBrk="1" latinLnBrk="0" hangingPunct="1"/>
            <a:r>
              <a:rPr lang="fr-FR" dirty="0" smtClean="0"/>
              <a:t>Deuxième niveau</a:t>
            </a:r>
          </a:p>
          <a:p>
            <a:pPr lvl="2" eaLnBrk="1" latinLnBrk="0" hangingPunct="1"/>
            <a:r>
              <a:rPr lang="fr-FR" dirty="0" smtClean="0"/>
              <a:t>Troisième niveau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92A66C84-DD1B-44C6-B4A4-7F3BC2C7F8DC}" type="slidenum">
              <a:rPr lang="en-US" smtClean="0"/>
              <a:t>‹N°›</a:t>
            </a:fld>
            <a:endParaRPr lang="en-US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2A66C84-DD1B-44C6-B4A4-7F3BC2C7F8DC}" type="slidenum">
              <a:rPr lang="en-US" smtClean="0"/>
              <a:t>‹N°›</a:t>
            </a:fld>
            <a:endParaRPr lang="en-US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2A66C84-DD1B-44C6-B4A4-7F3BC2C7F8DC}" type="slidenum">
              <a:rPr lang="en-US" smtClean="0"/>
              <a:t>‹N°›</a:t>
            </a:fld>
            <a:endParaRPr lang="en-US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2A66C84-DD1B-44C6-B4A4-7F3BC2C7F8DC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2A66C84-DD1B-44C6-B4A4-7F3BC2C7F8DC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2A66C84-DD1B-44C6-B4A4-7F3BC2C7F8DC}" type="slidenum">
              <a:rPr lang="en-US" smtClean="0"/>
              <a:t>‹N°›</a:t>
            </a:fld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92A66C84-DD1B-44C6-B4A4-7F3BC2C7F8DC}" type="slidenum">
              <a:rPr lang="en-US" smtClean="0"/>
              <a:t>‹N°›</a:t>
            </a:fld>
            <a:endParaRPr lang="en-US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66C84-DD1B-44C6-B4A4-7F3BC2C7F8DC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92A66C84-DD1B-44C6-B4A4-7F3BC2C7F8DC}" type="slidenum">
              <a:rPr lang="en-US" smtClean="0"/>
              <a:t>‹N°›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266700" y="228600"/>
            <a:ext cx="862578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266700" y="1600200"/>
            <a:ext cx="8625780" cy="506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dirty="0" smtClean="0"/>
              <a:t>Modifiez les styles du texte du masque</a:t>
            </a:r>
          </a:p>
          <a:p>
            <a:pPr lvl="1" eaLnBrk="1" latinLnBrk="0" hangingPunct="1"/>
            <a:r>
              <a:rPr kumimoji="0" lang="fr-FR" dirty="0" smtClean="0"/>
              <a:t>Deuxième niveau</a:t>
            </a:r>
          </a:p>
          <a:p>
            <a:pPr lvl="2" eaLnBrk="1" latinLnBrk="0" hangingPunct="1"/>
            <a:r>
              <a:rPr kumimoji="0" lang="fr-FR" dirty="0" smtClean="0"/>
              <a:t>Troisième niveau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92A66C84-DD1B-44C6-B4A4-7F3BC2C7F8DC}" type="slidenum">
              <a:rPr lang="en-US" smtClean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Encoder des </a:t>
            </a:r>
            <a:r>
              <a:rPr lang="fr-FR" sz="2800" dirty="0" smtClean="0"/>
              <a:t>données internes à </a:t>
            </a:r>
            <a:r>
              <a:rPr lang="fr-FR" sz="2800" dirty="0"/>
              <a:t>SAS</a:t>
            </a:r>
            <a:endParaRPr lang="fr-BE" sz="2800" dirty="0"/>
          </a:p>
        </p:txBody>
      </p:sp>
      <p:sp>
        <p:nvSpPr>
          <p:cNvPr id="5" name="ZoneTexte 4"/>
          <p:cNvSpPr txBox="1"/>
          <p:nvPr>
            <p:custDataLst>
              <p:tags r:id="rId2"/>
            </p:custDataLst>
          </p:nvPr>
        </p:nvSpPr>
        <p:spPr>
          <a:xfrm>
            <a:off x="250516" y="2276872"/>
            <a:ext cx="3960440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700" b="1" dirty="0">
                <a:solidFill>
                  <a:schemeClr val="accent3"/>
                </a:solidFill>
                <a:latin typeface="Arial" pitchFamily="34" charset="0"/>
                <a:cs typeface="Arial" pitchFamily="34" charset="0"/>
              </a:rPr>
              <a:t>DATA</a:t>
            </a:r>
            <a:r>
              <a:rPr lang="fr-BE" sz="1700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i="1" dirty="0" err="1">
                <a:latin typeface="Arial" pitchFamily="34" charset="0"/>
                <a:cs typeface="Arial" pitchFamily="34" charset="0"/>
              </a:rPr>
              <a:t>nom_de_table</a:t>
            </a:r>
            <a:r>
              <a:rPr lang="fr-BE" sz="17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fr-BE" sz="1700" dirty="0">
                <a:latin typeface="Arial" pitchFamily="34" charset="0"/>
                <a:cs typeface="Arial" pitchFamily="34" charset="0"/>
              </a:rPr>
              <a:t>; </a:t>
            </a:r>
          </a:p>
          <a:p>
            <a:r>
              <a:rPr lang="fr-BE" sz="1700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INPUT</a:t>
            </a:r>
            <a:r>
              <a:rPr lang="fr-BE" sz="1700" dirty="0">
                <a:latin typeface="Arial" pitchFamily="34" charset="0"/>
                <a:cs typeface="Arial" pitchFamily="34" charset="0"/>
              </a:rPr>
              <a:t> Age Sexe </a:t>
            </a:r>
            <a:r>
              <a:rPr lang="fr-BE" sz="1700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$ </a:t>
            </a:r>
            <a:r>
              <a:rPr lang="fr-BE" sz="1700" dirty="0">
                <a:latin typeface="Arial" pitchFamily="34" charset="0"/>
                <a:cs typeface="Arial" pitchFamily="34" charset="0"/>
              </a:rPr>
              <a:t>QI Etude ;</a:t>
            </a:r>
          </a:p>
          <a:p>
            <a:r>
              <a:rPr lang="fr-BE" sz="17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DATALINES</a:t>
            </a:r>
            <a:r>
              <a:rPr lang="fr-BE" sz="1700" b="1" dirty="0">
                <a:latin typeface="Arial" pitchFamily="34" charset="0"/>
                <a:cs typeface="Arial" pitchFamily="34" charset="0"/>
              </a:rPr>
              <a:t> </a:t>
            </a:r>
            <a:r>
              <a:rPr lang="fr-BE" sz="1700" dirty="0">
                <a:latin typeface="Arial" pitchFamily="34" charset="0"/>
                <a:cs typeface="Arial" pitchFamily="34" charset="0"/>
              </a:rPr>
              <a:t>; </a:t>
            </a:r>
          </a:p>
          <a:p>
            <a:r>
              <a:rPr lang="fr-BE" sz="1700" dirty="0">
                <a:latin typeface="Arial" pitchFamily="34" charset="0"/>
                <a:cs typeface="Arial" pitchFamily="34" charset="0"/>
              </a:rPr>
              <a:t>19 F 105 12</a:t>
            </a:r>
          </a:p>
          <a:p>
            <a:r>
              <a:rPr lang="fr-BE" sz="1700" dirty="0">
                <a:latin typeface="Arial" pitchFamily="34" charset="0"/>
                <a:cs typeface="Arial" pitchFamily="34" charset="0"/>
              </a:rPr>
              <a:t>28 . 98 13</a:t>
            </a:r>
          </a:p>
          <a:p>
            <a:r>
              <a:rPr lang="fr-BE" sz="1700" dirty="0">
                <a:latin typeface="Arial" pitchFamily="34" charset="0"/>
                <a:cs typeface="Arial" pitchFamily="34" charset="0"/>
              </a:rPr>
              <a:t>22 H 124 15</a:t>
            </a:r>
          </a:p>
          <a:p>
            <a:r>
              <a:rPr lang="fr-BE" sz="1700" dirty="0">
                <a:latin typeface="Arial" pitchFamily="34" charset="0"/>
                <a:cs typeface="Arial" pitchFamily="34" charset="0"/>
              </a:rPr>
              <a:t>34 F . 11</a:t>
            </a:r>
          </a:p>
          <a:p>
            <a:r>
              <a:rPr lang="fr-BE" sz="1700" dirty="0">
                <a:latin typeface="Arial" pitchFamily="34" charset="0"/>
                <a:cs typeface="Arial" pitchFamily="34" charset="0"/>
              </a:rPr>
              <a:t>18 F 98 . </a:t>
            </a:r>
          </a:p>
          <a:p>
            <a:r>
              <a:rPr lang="fr-BE" sz="1700" dirty="0">
                <a:latin typeface="Arial" pitchFamily="34" charset="0"/>
                <a:cs typeface="Arial" pitchFamily="34" charset="0"/>
              </a:rPr>
              <a:t>26 H 87 9</a:t>
            </a:r>
          </a:p>
          <a:p>
            <a:r>
              <a:rPr lang="fr-BE" sz="1700" b="1" dirty="0">
                <a:latin typeface="Arial" pitchFamily="34" charset="0"/>
                <a:cs typeface="Arial" pitchFamily="34" charset="0"/>
              </a:rPr>
              <a:t>PROC</a:t>
            </a:r>
            <a:r>
              <a:rPr lang="fr-BE" sz="1700" dirty="0">
                <a:latin typeface="Arial" pitchFamily="34" charset="0"/>
                <a:cs typeface="Arial" pitchFamily="34" charset="0"/>
              </a:rPr>
              <a:t> </a:t>
            </a:r>
            <a:r>
              <a:rPr lang="fr-BE" sz="1700" b="1" dirty="0">
                <a:latin typeface="Arial" pitchFamily="34" charset="0"/>
                <a:cs typeface="Arial" pitchFamily="34" charset="0"/>
              </a:rPr>
              <a:t>PRINT</a:t>
            </a:r>
            <a:r>
              <a:rPr lang="fr-BE" sz="1700" dirty="0">
                <a:latin typeface="Arial" pitchFamily="34" charset="0"/>
                <a:cs typeface="Arial" pitchFamily="34" charset="0"/>
              </a:rPr>
              <a:t> DATA = </a:t>
            </a:r>
            <a:r>
              <a:rPr lang="fr-FR" i="1" dirty="0" err="1">
                <a:latin typeface="Arial" pitchFamily="34" charset="0"/>
                <a:cs typeface="Arial" pitchFamily="34" charset="0"/>
              </a:rPr>
              <a:t>nom_de_table</a:t>
            </a:r>
            <a:r>
              <a:rPr lang="fr-BE" sz="17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fr-BE" sz="1700" dirty="0">
                <a:latin typeface="Arial" pitchFamily="34" charset="0"/>
                <a:cs typeface="Arial" pitchFamily="34" charset="0"/>
              </a:rPr>
              <a:t>; </a:t>
            </a:r>
          </a:p>
          <a:p>
            <a:r>
              <a:rPr lang="fr-BE" sz="1700" b="1" dirty="0">
                <a:latin typeface="Arial" pitchFamily="34" charset="0"/>
                <a:cs typeface="Arial" pitchFamily="34" charset="0"/>
              </a:rPr>
              <a:t>RUN</a:t>
            </a:r>
            <a:r>
              <a:rPr lang="fr-BE" sz="1700" dirty="0">
                <a:latin typeface="Arial" pitchFamily="34" charset="0"/>
                <a:cs typeface="Arial" pitchFamily="34" charset="0"/>
              </a:rPr>
              <a:t> ;  </a:t>
            </a:r>
          </a:p>
          <a:p>
            <a:endParaRPr lang="fr-BE" dirty="0"/>
          </a:p>
        </p:txBody>
      </p:sp>
      <p:sp>
        <p:nvSpPr>
          <p:cNvPr id="4" name="ZoneTexte 3"/>
          <p:cNvSpPr txBox="1"/>
          <p:nvPr>
            <p:custDataLst>
              <p:tags r:id="rId3"/>
            </p:custDataLst>
          </p:nvPr>
        </p:nvSpPr>
        <p:spPr>
          <a:xfrm>
            <a:off x="4283968" y="1844824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b="1" i="1" dirty="0">
                <a:solidFill>
                  <a:schemeClr val="accent3"/>
                </a:solidFill>
                <a:latin typeface="Arial" pitchFamily="34" charset="0"/>
                <a:cs typeface="Arial" pitchFamily="34" charset="0"/>
              </a:rPr>
              <a:t>DATA</a:t>
            </a:r>
            <a:r>
              <a:rPr lang="fr-BE" sz="1600" i="1" dirty="0">
                <a:solidFill>
                  <a:schemeClr val="accent3"/>
                </a:solidFill>
                <a:latin typeface="Arial" pitchFamily="34" charset="0"/>
                <a:cs typeface="Arial" pitchFamily="34" charset="0"/>
              </a:rPr>
              <a:t>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600" dirty="0">
                <a:latin typeface="Arial" pitchFamily="34" charset="0"/>
                <a:cs typeface="Arial" pitchFamily="34" charset="0"/>
              </a:rPr>
              <a:t>Nom de la table de données</a:t>
            </a:r>
          </a:p>
          <a:p>
            <a:endParaRPr lang="fr-BE" sz="1000" dirty="0">
              <a:latin typeface="Arial" pitchFamily="34" charset="0"/>
              <a:cs typeface="Arial" pitchFamily="34" charset="0"/>
            </a:endParaRPr>
          </a:p>
          <a:p>
            <a:r>
              <a:rPr lang="fr-BE" sz="1600" b="1" i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INPUT</a:t>
            </a:r>
            <a:r>
              <a:rPr lang="fr-BE" sz="1600" i="1" dirty="0">
                <a:latin typeface="Arial" pitchFamily="34" charset="0"/>
                <a:cs typeface="Arial" pitchFamily="34" charset="0"/>
              </a:rPr>
              <a:t> </a:t>
            </a:r>
            <a:r>
              <a:rPr lang="fr-BE" sz="1600" dirty="0">
                <a:latin typeface="Arial" pitchFamily="34" charset="0"/>
                <a:cs typeface="Arial" pitchFamily="34" charset="0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600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$</a:t>
            </a:r>
            <a:r>
              <a:rPr lang="fr-BE" sz="1600" dirty="0">
                <a:latin typeface="Arial" pitchFamily="34" charset="0"/>
                <a:cs typeface="Arial" pitchFamily="34" charset="0"/>
              </a:rPr>
              <a:t> : indique que la variable est </a:t>
            </a:r>
            <a:r>
              <a:rPr lang="fr-BE" sz="1600" dirty="0" smtClean="0">
                <a:latin typeface="Arial" pitchFamily="34" charset="0"/>
                <a:cs typeface="Arial" pitchFamily="34" charset="0"/>
              </a:rPr>
              <a:t>alphabétique ou alphanumérique </a:t>
            </a:r>
            <a:endParaRPr lang="fr-BE" sz="16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600" dirty="0">
                <a:latin typeface="Arial" pitchFamily="34" charset="0"/>
                <a:cs typeface="Arial" pitchFamily="34" charset="0"/>
              </a:rPr>
              <a:t>Variables : Pas plus de 8 caractères, pas de </a:t>
            </a:r>
            <a:r>
              <a:rPr lang="fr-BE" sz="1600" dirty="0" smtClean="0">
                <a:latin typeface="Arial" pitchFamily="34" charset="0"/>
                <a:cs typeface="Arial" pitchFamily="34" charset="0"/>
              </a:rPr>
              <a:t>caractères </a:t>
            </a:r>
            <a:r>
              <a:rPr lang="fr-BE" sz="1600" dirty="0">
                <a:latin typeface="Arial" pitchFamily="34" charset="0"/>
                <a:cs typeface="Arial" pitchFamily="34" charset="0"/>
              </a:rPr>
              <a:t>spéciaux (hormis _ et $), ne </a:t>
            </a:r>
            <a:r>
              <a:rPr lang="fr-BE" sz="1600" dirty="0" smtClean="0">
                <a:latin typeface="Arial" pitchFamily="34" charset="0"/>
                <a:cs typeface="Arial" pitchFamily="34" charset="0"/>
              </a:rPr>
              <a:t>commencent </a:t>
            </a:r>
            <a:r>
              <a:rPr lang="fr-BE" sz="1600" dirty="0">
                <a:latin typeface="Arial" pitchFamily="34" charset="0"/>
                <a:cs typeface="Arial" pitchFamily="34" charset="0"/>
              </a:rPr>
              <a:t>jamais par un chiffre </a:t>
            </a:r>
          </a:p>
          <a:p>
            <a:endParaRPr lang="fr-BE" sz="1000" i="1" dirty="0">
              <a:solidFill>
                <a:srgbClr val="92D050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BE" sz="1600" b="1" i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DATALINES </a:t>
            </a:r>
            <a:r>
              <a:rPr lang="fr-BE" sz="1600" dirty="0">
                <a:latin typeface="Arial" pitchFamily="34" charset="0"/>
                <a:cs typeface="Arial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600" dirty="0">
                <a:latin typeface="Arial" pitchFamily="34" charset="0"/>
                <a:cs typeface="Arial" pitchFamily="34" charset="0"/>
              </a:rPr>
              <a:t>Les données ne sont jamais suivies d’un « ; 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600" dirty="0">
                <a:latin typeface="Arial" pitchFamily="34" charset="0"/>
                <a:cs typeface="Arial" pitchFamily="34" charset="0"/>
              </a:rPr>
              <a:t>Les valeurs manquantes sont remplacées par un « . » en </a:t>
            </a:r>
            <a:r>
              <a:rPr lang="fr-BE" sz="1600" b="1" dirty="0">
                <a:latin typeface="Arial" pitchFamily="34" charset="0"/>
                <a:cs typeface="Arial" pitchFamily="34" charset="0"/>
              </a:rPr>
              <a:t>format libre</a:t>
            </a:r>
          </a:p>
          <a:p>
            <a:endParaRPr lang="fr-BE" sz="1000" b="1" dirty="0">
              <a:latin typeface="Arial" pitchFamily="34" charset="0"/>
              <a:cs typeface="Arial" pitchFamily="34" charset="0"/>
            </a:endParaRPr>
          </a:p>
          <a:p>
            <a:r>
              <a:rPr lang="fr-BE" sz="1600" b="1" i="1" dirty="0">
                <a:latin typeface="Arial" pitchFamily="34" charset="0"/>
                <a:cs typeface="Arial" pitchFamily="34" charset="0"/>
              </a:rPr>
              <a:t>PROC PRINT </a:t>
            </a:r>
            <a:r>
              <a:rPr lang="fr-BE" sz="1600" dirty="0">
                <a:latin typeface="Arial" pitchFamily="34" charset="0"/>
                <a:cs typeface="Arial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600" dirty="0" smtClean="0">
                <a:latin typeface="Arial" pitchFamily="34" charset="0"/>
                <a:cs typeface="Arial" pitchFamily="34" charset="0"/>
              </a:rPr>
              <a:t>Imprime </a:t>
            </a:r>
            <a:r>
              <a:rPr lang="fr-BE" sz="1600" dirty="0">
                <a:latin typeface="Arial" pitchFamily="34" charset="0"/>
                <a:cs typeface="Arial" pitchFamily="34" charset="0"/>
              </a:rPr>
              <a:t>la table de </a:t>
            </a:r>
            <a:r>
              <a:rPr lang="fr-BE" sz="1600" dirty="0" smtClean="0">
                <a:latin typeface="Arial" pitchFamily="34" charset="0"/>
                <a:cs typeface="Arial" pitchFamily="34" charset="0"/>
              </a:rPr>
              <a:t>données. Il est recommandé de </a:t>
            </a:r>
            <a:r>
              <a:rPr lang="fr-BE" sz="1600" i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vérifier </a:t>
            </a:r>
            <a:r>
              <a:rPr lang="fr-BE" sz="1600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que </a:t>
            </a:r>
            <a:r>
              <a:rPr lang="fr-BE" sz="1600" i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la </a:t>
            </a:r>
            <a:r>
              <a:rPr lang="fr-BE" sz="1600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table s’imprime </a:t>
            </a:r>
            <a:r>
              <a:rPr lang="fr-BE" sz="1600" i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correctement avant toute analyse</a:t>
            </a:r>
            <a:endParaRPr lang="fr-BE" sz="1600" i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493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FR" sz="2800" dirty="0" smtClean="0"/>
              <a:t>Création d’une nouvelle variable (1)</a:t>
            </a:r>
            <a:endParaRPr lang="fr-FR" sz="28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>
            <a:normAutofit fontScale="85000" lnSpcReduction="20000"/>
          </a:bodyPr>
          <a:lstStyle/>
          <a:p>
            <a:fld id="{92A66C84-DD1B-44C6-B4A4-7F3BC2C7F8DC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  <p:custDataLst>
              <p:tags r:id="rId3"/>
            </p:custDataLst>
          </p:nvPr>
        </p:nvSpPr>
        <p:spPr>
          <a:xfrm>
            <a:off x="247378" y="4653136"/>
            <a:ext cx="8640960" cy="1584176"/>
          </a:xfrm>
        </p:spPr>
        <p:txBody>
          <a:bodyPr>
            <a:normAutofit/>
          </a:bodyPr>
          <a:lstStyle/>
          <a:p>
            <a:r>
              <a:rPr lang="fr-FR" sz="1600" dirty="0" smtClean="0"/>
              <a:t>Création de variables : </a:t>
            </a:r>
          </a:p>
          <a:p>
            <a:pPr lvl="1"/>
            <a:r>
              <a:rPr lang="fr-FR" sz="1400" dirty="0" smtClean="0"/>
              <a:t>Utilisation d’opérateurs mathématiques : « </a:t>
            </a:r>
            <a:r>
              <a:rPr lang="fr-FR" sz="1400" b="1" dirty="0" smtClean="0"/>
              <a:t>+ </a:t>
            </a:r>
            <a:r>
              <a:rPr lang="fr-FR" sz="1400" dirty="0" smtClean="0"/>
              <a:t>», « -</a:t>
            </a:r>
            <a:r>
              <a:rPr lang="fr-FR" sz="1400" dirty="0"/>
              <a:t> </a:t>
            </a:r>
            <a:r>
              <a:rPr lang="fr-FR" sz="1400" dirty="0" smtClean="0"/>
              <a:t>»,</a:t>
            </a:r>
            <a:r>
              <a:rPr lang="fr-FR" sz="1400" dirty="0"/>
              <a:t> </a:t>
            </a:r>
            <a:r>
              <a:rPr lang="fr-FR" sz="1400" dirty="0" smtClean="0"/>
              <a:t>« *</a:t>
            </a:r>
            <a:r>
              <a:rPr lang="fr-FR" sz="1400" dirty="0"/>
              <a:t> »,</a:t>
            </a:r>
            <a:r>
              <a:rPr lang="fr-FR" sz="1400" dirty="0" smtClean="0"/>
              <a:t> </a:t>
            </a:r>
            <a:r>
              <a:rPr lang="fr-FR" sz="1400" dirty="0"/>
              <a:t>« </a:t>
            </a:r>
            <a:r>
              <a:rPr lang="fr-FR" sz="1400" dirty="0" smtClean="0"/>
              <a:t>/</a:t>
            </a:r>
            <a:r>
              <a:rPr lang="fr-FR" sz="1400" dirty="0"/>
              <a:t> </a:t>
            </a:r>
            <a:r>
              <a:rPr lang="fr-FR" sz="1400" dirty="0" smtClean="0"/>
              <a:t>», etc.</a:t>
            </a:r>
          </a:p>
          <a:p>
            <a:pPr lvl="1"/>
            <a:r>
              <a:rPr lang="fr-FR" sz="1400" b="1" dirty="0" smtClean="0"/>
              <a:t>MEAN (OF </a:t>
            </a:r>
            <a:r>
              <a:rPr lang="fr-FR" sz="1400" i="1" dirty="0" err="1" smtClean="0"/>
              <a:t>liste_de_variables</a:t>
            </a:r>
            <a:r>
              <a:rPr lang="fr-FR" sz="1400" b="1" dirty="0" smtClean="0"/>
              <a:t>)</a:t>
            </a:r>
            <a:r>
              <a:rPr lang="fr-FR" sz="1400" dirty="0"/>
              <a:t> </a:t>
            </a:r>
            <a:r>
              <a:rPr lang="fr-FR" sz="1400" dirty="0" smtClean="0"/>
              <a:t>: Moyenne des variables renseignées </a:t>
            </a:r>
          </a:p>
          <a:p>
            <a:pPr lvl="1"/>
            <a:r>
              <a:rPr lang="fr-FR" sz="1400" b="1" dirty="0" smtClean="0"/>
              <a:t>SUM (OF </a:t>
            </a:r>
            <a:r>
              <a:rPr lang="fr-FR" sz="1400" i="1" dirty="0" err="1"/>
              <a:t>liste_de_variables</a:t>
            </a:r>
            <a:r>
              <a:rPr lang="fr-FR" sz="1400" b="1" dirty="0" smtClean="0"/>
              <a:t>)</a:t>
            </a:r>
            <a:r>
              <a:rPr lang="fr-FR" sz="1400" dirty="0" smtClean="0"/>
              <a:t> : Somme </a:t>
            </a:r>
            <a:r>
              <a:rPr lang="fr-FR" sz="1400" dirty="0"/>
              <a:t>des variables renseignées </a:t>
            </a:r>
          </a:p>
          <a:p>
            <a:pPr lvl="1"/>
            <a:endParaRPr lang="fr-FR" dirty="0"/>
          </a:p>
        </p:txBody>
      </p:sp>
      <p:sp>
        <p:nvSpPr>
          <p:cNvPr id="5" name="ZoneTexte 4"/>
          <p:cNvSpPr txBox="1"/>
          <p:nvPr>
            <p:custDataLst>
              <p:tags r:id="rId4"/>
            </p:custDataLst>
          </p:nvPr>
        </p:nvSpPr>
        <p:spPr>
          <a:xfrm>
            <a:off x="467544" y="2250931"/>
            <a:ext cx="8208912" cy="21236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fr-FR" sz="1600" b="1" dirty="0" smtClean="0">
                <a:latin typeface="Arial" pitchFamily="34" charset="0"/>
                <a:cs typeface="Arial" pitchFamily="34" charset="0"/>
              </a:rPr>
              <a:t>DATA</a:t>
            </a:r>
            <a:r>
              <a:rPr lang="fr-FR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1600" i="1" dirty="0" smtClean="0">
                <a:latin typeface="Arial" pitchFamily="34" charset="0"/>
                <a:cs typeface="Arial" pitchFamily="34" charset="0"/>
              </a:rPr>
              <a:t>nom_de_table</a:t>
            </a:r>
            <a:r>
              <a:rPr lang="fr-FR" sz="1600" dirty="0" smtClean="0">
                <a:latin typeface="Arial" pitchFamily="34" charset="0"/>
                <a:cs typeface="Arial" pitchFamily="34" charset="0"/>
              </a:rPr>
              <a:t>2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fr-FR" sz="1600" b="1" dirty="0" smtClean="0">
                <a:latin typeface="Arial" pitchFamily="34" charset="0"/>
                <a:cs typeface="Arial" pitchFamily="34" charset="0"/>
              </a:rPr>
              <a:t>      SET </a:t>
            </a:r>
            <a:r>
              <a:rPr lang="fr-FR" sz="1600" i="1" dirty="0" smtClean="0">
                <a:latin typeface="Arial" pitchFamily="34" charset="0"/>
                <a:cs typeface="Arial" pitchFamily="34" charset="0"/>
              </a:rPr>
              <a:t>nom_de_table</a:t>
            </a:r>
            <a:r>
              <a:rPr lang="fr-FR" sz="1600" dirty="0" smtClean="0">
                <a:latin typeface="Arial" pitchFamily="34" charset="0"/>
                <a:cs typeface="Arial" pitchFamily="34" charset="0"/>
              </a:rPr>
              <a:t>1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fr-FR" sz="16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1600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Nom_de_variable1 = Variable(s)_</a:t>
            </a:r>
            <a:r>
              <a:rPr lang="fr-FR" sz="1600" i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et_opération</a:t>
            </a:r>
            <a:r>
              <a:rPr lang="fr-FR" sz="1600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(s)_mathématiques(s) 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fr-FR" sz="1600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 Nom_de_variable2 </a:t>
            </a:r>
            <a:r>
              <a:rPr lang="fr-FR" sz="16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= Variable(s)_</a:t>
            </a:r>
            <a:r>
              <a:rPr lang="fr-FR" sz="1600" i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et_opération</a:t>
            </a:r>
            <a:r>
              <a:rPr lang="fr-FR" sz="16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(s)_mathématiques(s)  </a:t>
            </a:r>
            <a:r>
              <a:rPr lang="fr-FR" sz="1600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fr-FR" sz="16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1600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…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fr-FR" sz="1600" b="1" dirty="0" smtClean="0">
                <a:latin typeface="Arial" pitchFamily="34" charset="0"/>
                <a:cs typeface="Arial" pitchFamily="34" charset="0"/>
              </a:rPr>
              <a:t>PROC </a:t>
            </a:r>
            <a:r>
              <a:rPr lang="fr-FR" sz="1600" b="1" dirty="0">
                <a:latin typeface="Arial" pitchFamily="34" charset="0"/>
                <a:cs typeface="Arial" pitchFamily="34" charset="0"/>
              </a:rPr>
              <a:t>PRINT </a:t>
            </a:r>
            <a:r>
              <a:rPr lang="fr-FR" sz="1600" dirty="0" smtClean="0">
                <a:latin typeface="Arial" pitchFamily="34" charset="0"/>
                <a:cs typeface="Arial" pitchFamily="34" charset="0"/>
              </a:rPr>
              <a:t>DATA=</a:t>
            </a:r>
            <a:r>
              <a:rPr lang="fr-FR" sz="1600" i="1" dirty="0" smtClean="0">
                <a:latin typeface="Arial" pitchFamily="34" charset="0"/>
                <a:cs typeface="Arial" pitchFamily="34" charset="0"/>
              </a:rPr>
              <a:t>nom_de_table2</a:t>
            </a:r>
            <a:r>
              <a:rPr lang="fr-FR" sz="1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fr-FR" sz="1600" dirty="0">
                <a:latin typeface="Arial" pitchFamily="34" charset="0"/>
                <a:cs typeface="Arial" pitchFamily="34" charset="0"/>
              </a:rPr>
              <a:t>;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fr-FR" sz="1600" b="1" dirty="0">
                <a:latin typeface="Arial" pitchFamily="34" charset="0"/>
                <a:cs typeface="Arial" pitchFamily="34" charset="0"/>
              </a:rPr>
              <a:t>RUN</a:t>
            </a:r>
            <a:r>
              <a:rPr lang="fr-FR" sz="1600" dirty="0">
                <a:latin typeface="Arial" pitchFamily="34" charset="0"/>
                <a:cs typeface="Arial" pitchFamily="34" charset="0"/>
              </a:rPr>
              <a:t> ; </a:t>
            </a:r>
          </a:p>
        </p:txBody>
      </p:sp>
      <p:sp>
        <p:nvSpPr>
          <p:cNvPr id="6" name="Espace réservé du contenu 3"/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251520" y="1684560"/>
            <a:ext cx="8640960" cy="237626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dirty="0" smtClean="0"/>
              <a:t>Création d’une nouvelle table de données incluant la table initiale et la nouvelle variable. </a:t>
            </a:r>
            <a:endParaRPr lang="fr-FR" dirty="0" smtClean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533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B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procédure PROC MEANS</a:t>
            </a:r>
            <a:endParaRPr lang="fr-FR" sz="28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>
            <a:normAutofit fontScale="85000" lnSpcReduction="20000"/>
          </a:bodyPr>
          <a:lstStyle/>
          <a:p>
            <a:fld id="{92A66C84-DD1B-44C6-B4A4-7F3BC2C7F8DC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ZoneTexte 4"/>
          <p:cNvSpPr txBox="1"/>
          <p:nvPr>
            <p:custDataLst>
              <p:tags r:id="rId3"/>
            </p:custDataLst>
          </p:nvPr>
        </p:nvSpPr>
        <p:spPr>
          <a:xfrm>
            <a:off x="1619672" y="1663157"/>
            <a:ext cx="5904656" cy="10259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fr-FR" b="1" dirty="0">
                <a:latin typeface="Arial" pitchFamily="34" charset="0"/>
                <a:cs typeface="Arial" pitchFamily="34" charset="0"/>
              </a:rPr>
              <a:t>PROC MEANS </a:t>
            </a:r>
            <a:r>
              <a:rPr lang="fr-FR" dirty="0">
                <a:latin typeface="Arial" pitchFamily="34" charset="0"/>
                <a:cs typeface="Arial" pitchFamily="34" charset="0"/>
              </a:rPr>
              <a:t>DATA=</a:t>
            </a:r>
            <a:r>
              <a:rPr lang="fr-BE" i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nom_de_table</a:t>
            </a:r>
            <a:r>
              <a:rPr lang="fr-BE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dirty="0" smtClean="0">
                <a:latin typeface="Arial" pitchFamily="34" charset="0"/>
                <a:cs typeface="Arial" pitchFamily="34" charset="0"/>
              </a:rPr>
              <a:t>; </a:t>
            </a:r>
            <a:endParaRPr lang="fr-FR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fr-FR" dirty="0">
                <a:latin typeface="Arial" pitchFamily="34" charset="0"/>
                <a:cs typeface="Arial" pitchFamily="34" charset="0"/>
              </a:rPr>
              <a:t>       </a:t>
            </a:r>
            <a:r>
              <a:rPr lang="fr-FR" b="1" dirty="0">
                <a:latin typeface="Arial" pitchFamily="34" charset="0"/>
                <a:cs typeface="Arial" pitchFamily="34" charset="0"/>
              </a:rPr>
              <a:t>VAR</a:t>
            </a:r>
            <a:r>
              <a:rPr lang="fr-FR" dirty="0">
                <a:latin typeface="Arial" pitchFamily="34" charset="0"/>
                <a:cs typeface="Arial" pitchFamily="34" charset="0"/>
              </a:rPr>
              <a:t> </a:t>
            </a:r>
            <a:r>
              <a:rPr lang="fr-BE" i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liste_variables</a:t>
            </a:r>
            <a:r>
              <a:rPr lang="fr-FR" dirty="0">
                <a:latin typeface="Arial" pitchFamily="34" charset="0"/>
                <a:cs typeface="Arial" pitchFamily="34" charset="0"/>
              </a:rPr>
              <a:t> ;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fr-FR" b="1" dirty="0">
                <a:latin typeface="Arial" pitchFamily="34" charset="0"/>
                <a:cs typeface="Arial" pitchFamily="34" charset="0"/>
              </a:rPr>
              <a:t>RUN</a:t>
            </a:r>
            <a:r>
              <a:rPr lang="fr-FR" dirty="0">
                <a:latin typeface="Arial" pitchFamily="34" charset="0"/>
                <a:cs typeface="Arial" pitchFamily="34" charset="0"/>
              </a:rPr>
              <a:t> ; </a:t>
            </a:r>
          </a:p>
        </p:txBody>
      </p:sp>
    </p:spTree>
    <p:extLst>
      <p:ext uri="{BB962C8B-B14F-4D97-AF65-F5344CB8AC3E}">
        <p14:creationId xmlns:p14="http://schemas.microsoft.com/office/powerpoint/2010/main" val="298260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édia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Mé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é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754</TotalTime>
  <Words>263</Words>
  <Application>Microsoft Office PowerPoint</Application>
  <PresentationFormat>Affichage à l'écran (4:3)</PresentationFormat>
  <Paragraphs>46</Paragraphs>
  <Slides>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0" baseType="lpstr">
      <vt:lpstr>Arial</vt:lpstr>
      <vt:lpstr>Calibri</vt:lpstr>
      <vt:lpstr>Tahoma</vt:lpstr>
      <vt:lpstr>Tw Cen MT</vt:lpstr>
      <vt:lpstr>Wingdings</vt:lpstr>
      <vt:lpstr>Wingdings 2</vt:lpstr>
      <vt:lpstr>Médian</vt:lpstr>
      <vt:lpstr>Encoder des données internes à SAS</vt:lpstr>
      <vt:lpstr>Création d’une nouvelle variable (1)</vt:lpstr>
      <vt:lpstr>La procédure PROC MEANS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Jessica</dc:creator>
  <cp:lastModifiedBy>Jessica Simon</cp:lastModifiedBy>
  <cp:revision>362</cp:revision>
  <dcterms:created xsi:type="dcterms:W3CDTF">2017-08-31T12:53:33Z</dcterms:created>
  <dcterms:modified xsi:type="dcterms:W3CDTF">2021-09-10T20:19:22Z</dcterms:modified>
</cp:coreProperties>
</file>